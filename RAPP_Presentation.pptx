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11277295" cy="822960"/>
          </a:xfrm>
          <a:prstGeom prst="roundRect">
            <a:avLst/>
          </a:prstGeom>
          <a:ln>
            <a:noFill/>
          </a:ln>
          <a:gradFill>
            <a:gsLst>
              <a:gs pos="0">
                <a:srgbClr val="9B59B6"/>
              </a:gs>
              <a:gs pos="100000">
                <a:srgbClr val="3498DB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1000"/>
              </a:spcBef>
              <a:defRPr sz="3200" b="1">
                <a:solidFill>
                  <a:srgbClr val="FFFFFF"/>
                </a:solidFill>
              </a:defRPr>
            </a:pPr>
            <a:r>
              <a:t>Selling the Vision with Prototypes and RAPP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i="1">
                <a:solidFill>
                  <a:srgbClr val="6C757D"/>
                </a:solidFill>
              </a:defRPr>
            </a:pPr>
            <a:r>
              <a:t>From Discovery Call to Working Demo in Hours, Not Months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5486400" cy="2560320"/>
          </a:xfrm>
          <a:prstGeom prst="roundRect">
            <a:avLst/>
          </a:prstGeom>
          <a:solidFill>
            <a:srgbClr val="F8F9FA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C757D"/>
                </a:solidFill>
              </a:defRPr>
            </a:pPr>
            <a:r>
              <a:t>TRADITIONAL VS RAPP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DC3545"/>
                </a:solidFill>
              </a:defRPr>
            </a:pPr>
            <a:r>
              <a:t>Weeks of requirements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23317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C757D"/>
                </a:solidFill>
              </a:defRPr>
            </a:pPr>
            <a: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331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8A745"/>
                </a:solidFill>
              </a:defRPr>
            </a:pPr>
            <a:r>
              <a:t>Single discovery call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8892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DC3545"/>
                </a:solidFill>
              </a:defRPr>
            </a:pPr>
            <a:r>
              <a:t>Months to prototype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7889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C757D"/>
                </a:solidFill>
              </a:defRPr>
            </a:pPr>
            <a: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7889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8A745"/>
                </a:solidFill>
              </a:defRPr>
            </a:pPr>
            <a:r>
              <a:t>Working demo same 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4612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DC3545"/>
                </a:solidFill>
              </a:defRPr>
            </a:pPr>
            <a:r>
              <a:t>High risk, late 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2461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C757D"/>
                </a:solidFill>
              </a:defRPr>
            </a:pPr>
            <a: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2461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8A745"/>
                </a:solidFill>
              </a:defRPr>
            </a:pPr>
            <a:r>
              <a:t>Early feedback, low risk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70332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DC3545"/>
                </a:solidFill>
              </a:defRPr>
            </a:pPr>
            <a:r>
              <a:t>"Trust us, it'll work"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7033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C757D"/>
                </a:solidFill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7033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8A745"/>
                </a:solidFill>
              </a:defRPr>
            </a:pPr>
            <a:r>
              <a:t>"Here, try it yourself"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572000"/>
            <a:ext cx="5486400" cy="2011680"/>
          </a:xfrm>
          <a:prstGeom prst="roundRect">
            <a:avLst/>
          </a:prstGeom>
          <a:gradFill>
            <a:gsLst>
              <a:gs pos="0">
                <a:srgbClr val="667EEA"/>
              </a:gs>
              <a:gs pos="100000">
                <a:srgbClr val="764BA2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7091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The RAPP Pipeline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212080"/>
            <a:ext cx="731520" cy="640080"/>
          </a:xfrm>
          <a:prstGeom prst="roundRect">
            <a:avLst/>
          </a:prstGeom>
          <a:solidFill>
            <a:srgbClr val="C8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25780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89788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Transcript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534924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011680" y="5212080"/>
            <a:ext cx="731520" cy="640080"/>
          </a:xfrm>
          <a:prstGeom prst="roundRect">
            <a:avLst/>
          </a:prstGeom>
          <a:solidFill>
            <a:srgbClr val="C8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011680" y="525780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⚙️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74520" y="589788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Agent Code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88920" y="534924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91840" y="5212080"/>
            <a:ext cx="731520" cy="640080"/>
          </a:xfrm>
          <a:prstGeom prst="roundRect">
            <a:avLst/>
          </a:prstGeom>
          <a:solidFill>
            <a:srgbClr val="C8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91840" y="525780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54680" y="589788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Demo JSON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69080" y="534924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0" y="5212080"/>
            <a:ext cx="731520" cy="640080"/>
          </a:xfrm>
          <a:prstGeom prst="roundRect">
            <a:avLst/>
          </a:prstGeom>
          <a:solidFill>
            <a:srgbClr val="C8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0" y="525780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🧪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34840" y="589788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HTML Tester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1828800"/>
            <a:ext cx="5486400" cy="2286000"/>
          </a:xfrm>
          <a:prstGeom prst="roundRect">
            <a:avLst/>
          </a:prstGeom>
          <a:gradFill>
            <a:gsLst>
              <a:gs pos="0">
                <a:srgbClr val="11998E"/>
              </a:gs>
              <a:gs pos="100000">
                <a:srgbClr val="38EF7D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19659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SPEED ADVANTAGE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23774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Discovery to Demo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23774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 b="1">
                <a:solidFill>
                  <a:srgbClr val="FFFFFF"/>
                </a:solidFill>
              </a:defRPr>
            </a:pPr>
            <a:r>
              <a:t>Same Day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29260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Customer Feedback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29260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 b="1">
                <a:solidFill>
                  <a:srgbClr val="FFFFFF"/>
                </a:solidFill>
              </a:defRPr>
            </a:pPr>
            <a:r>
              <a:t>Day 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34747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Production Ready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0" y="34747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 b="1">
                <a:solidFill>
                  <a:srgbClr val="FFFFFF"/>
                </a:solidFill>
              </a:defRPr>
            </a:pPr>
            <a:r>
              <a:t>Week 1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17920" y="4297680"/>
            <a:ext cx="5486400" cy="2286000"/>
          </a:xfrm>
          <a:prstGeom prst="roundRect">
            <a:avLst/>
          </a:prstGeom>
          <a:gradFill>
            <a:gsLst>
              <a:gs pos="0">
                <a:srgbClr val="2C3E50"/>
              </a:gs>
              <a:gs pos="100000">
                <a:srgbClr val="34495E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0" y="475488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i="1">
                <a:solidFill>
                  <a:srgbClr val="FFFFFF"/>
                </a:solidFill>
              </a:rPr>
              <a:t>"A </a:t>
            </a:r>
            <a:r>
              <a:rPr sz="2000" b="1" i="1">
                <a:solidFill>
                  <a:srgbClr val="F1C40F"/>
                </a:solidFill>
              </a:rPr>
              <a:t>10-minute demo</a:t>
            </a:r>
            <a:r>
              <a:rPr sz="2000" i="1">
                <a:solidFill>
                  <a:srgbClr val="FFFFFF"/>
                </a:solidFill>
              </a:rPr>
              <a:t> closes more deals than a </a:t>
            </a:r>
            <a:r>
              <a:rPr sz="2000" b="1" i="1">
                <a:solidFill>
                  <a:srgbClr val="F1C40F"/>
                </a:solidFill>
              </a:rPr>
              <a:t>100-page proposal</a:t>
            </a:r>
            <a:r>
              <a:rPr sz="2000" i="1">
                <a:solidFill>
                  <a:srgbClr val="FFFFFF"/>
                </a:solidFill>
              </a:rPr>
              <a:t>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