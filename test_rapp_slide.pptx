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77295" cy="822960"/>
          </a:xfrm>
          <a:prstGeom prst="roundRect">
            <a:avLst/>
          </a:prstGeom>
          <a:ln>
            <a:noFill/>
          </a:ln>
          <a:gradFill>
            <a:gsLst>
              <a:gs pos="0">
                <a:srgbClr val="9B59B6"/>
              </a:gs>
              <a:gs pos="100000">
                <a:srgbClr val="3498D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Selling the Vision with Prototypes and RAPP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6C757D"/>
                </a:solidFill>
              </a:defRPr>
            </a:pPr>
            <a:r>
              <a:t>From Discovery Call to Working Demo in Hours, Not Months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2560320"/>
          </a:xfrm>
          <a:prstGeom prst="roundRect">
            <a:avLst/>
          </a:prstGeom>
          <a:solidFill>
            <a:srgbClr val="F8F9FA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C757D"/>
                </a:solidFill>
              </a:defRPr>
            </a:pPr>
            <a:r>
              <a:t>TRADITIONAL VS RAPP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3545"/>
                </a:solidFill>
              </a:defRPr>
            </a:pPr>
            <a:r>
              <a:t>Weeks of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3317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C757D"/>
                </a:solidFill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331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8A745"/>
                </a:solidFill>
              </a:defRPr>
            </a:pPr>
            <a:r>
              <a:t>Single discovery 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3545"/>
                </a:solidFill>
              </a:defRPr>
            </a:pPr>
            <a:r>
              <a:t>Months to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788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C757D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7889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8A745"/>
                </a:solidFill>
              </a:defRPr>
            </a:pPr>
            <a:r>
              <a:t>Working demo same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3545"/>
                </a:solidFill>
              </a:defRPr>
            </a:pPr>
            <a:r>
              <a:t>High risk, late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2461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C757D"/>
                </a:solidFill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2461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8A745"/>
                </a:solidFill>
              </a:defRPr>
            </a:pPr>
            <a:r>
              <a:t>Early feedback, low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03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3545"/>
                </a:solidFill>
              </a:defRPr>
            </a:pPr>
            <a:r>
              <a:t>"Trust us, it'll work"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7033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C757D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7033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8A745"/>
                </a:solidFill>
              </a:defRPr>
            </a:pPr>
            <a:r>
              <a:t>"Here, try it yourself"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5486400" cy="2011680"/>
          </a:xfrm>
          <a:prstGeom prst="roundRect">
            <a:avLst/>
          </a:prstGeom>
          <a:gradFill>
            <a:gsLst>
              <a:gs pos="0">
                <a:srgbClr val="667EEA"/>
              </a:gs>
              <a:gs pos="100000">
                <a:srgbClr val="764BA2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09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The RAPP 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12080"/>
            <a:ext cx="731520" cy="640080"/>
          </a:xfrm>
          <a:prstGeom prst="roundRect">
            <a:avLst/>
          </a:prstGeom>
          <a:solidFill>
            <a:srgbClr val="C8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578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8978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Transcript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3492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5212080"/>
            <a:ext cx="731520" cy="640080"/>
          </a:xfrm>
          <a:prstGeom prst="roundRect">
            <a:avLst/>
          </a:prstGeom>
          <a:solidFill>
            <a:srgbClr val="C8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52578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⚙️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20" y="58978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Agent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53492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5212080"/>
            <a:ext cx="731520" cy="640080"/>
          </a:xfrm>
          <a:prstGeom prst="roundRect">
            <a:avLst/>
          </a:prstGeom>
          <a:solidFill>
            <a:srgbClr val="C8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52578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58978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Demo 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53492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5212080"/>
            <a:ext cx="731520" cy="640080"/>
          </a:xfrm>
          <a:prstGeom prst="roundRect">
            <a:avLst/>
          </a:prstGeom>
          <a:solidFill>
            <a:srgbClr val="C8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52578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58978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HTML Tester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1828800"/>
            <a:ext cx="5486400" cy="2286000"/>
          </a:xfrm>
          <a:prstGeom prst="roundRect">
            <a:avLst/>
          </a:prstGeom>
          <a:gradFill>
            <a:gsLst>
              <a:gs pos="0">
                <a:srgbClr val="11998E"/>
              </a:gs>
              <a:gs pos="100000">
                <a:srgbClr val="38EF7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1965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SPEED ADVANTAGE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377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Discovery to Demo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377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</a:defRPr>
            </a:pPr>
            <a:r>
              <a:t>Same Day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2926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Customer Feedback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</a:defRPr>
            </a:pPr>
            <a:r>
              <a:t>Day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4747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Production Ready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3474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</a:defRPr>
            </a:pPr>
            <a:r>
              <a:t>Week 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4297680"/>
            <a:ext cx="5486400" cy="2286000"/>
          </a:xfrm>
          <a:prstGeom prst="roundRect">
            <a:avLst/>
          </a:prstGeom>
          <a:gradFill>
            <a:gsLst>
              <a:gs pos="0">
                <a:srgbClr val="2C3E50"/>
              </a:gs>
              <a:gs pos="100000">
                <a:srgbClr val="34495E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47548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i="1">
                <a:solidFill>
                  <a:srgbClr val="FFFFFF"/>
                </a:solidFill>
              </a:rPr>
              <a:t>"A </a:t>
            </a:r>
            <a:r>
              <a:rPr sz="2000" b="1" i="1">
                <a:solidFill>
                  <a:srgbClr val="F1C40F"/>
                </a:solidFill>
              </a:rPr>
              <a:t>10-minute demo</a:t>
            </a:r>
            <a:r>
              <a:rPr sz="2000" i="1">
                <a:solidFill>
                  <a:srgbClr val="FFFFFF"/>
                </a:solidFill>
              </a:rPr>
              <a:t> closes more deals than a </a:t>
            </a:r>
            <a:r>
              <a:rPr sz="2000" b="1" i="1">
                <a:solidFill>
                  <a:srgbClr val="F1C40F"/>
                </a:solidFill>
              </a:rPr>
              <a:t>100-page proposal</a:t>
            </a:r>
            <a:r>
              <a:rPr sz="2000" i="1">
                <a:solidFill>
                  <a:srgbClr val="FFFFFF"/>
                </a:solidFill>
              </a:rPr>
              <a:t>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